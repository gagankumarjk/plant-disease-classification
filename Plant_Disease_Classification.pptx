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788" autoAdjust="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KNN</c:v>
                </c:pt>
                <c:pt idx="2">
                  <c:v>Random Forest</c:v>
                </c:pt>
                <c:pt idx="3">
                  <c:v>SVM (RBF)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54.78</c:v>
                </c:pt>
                <c:pt idx="1">
                  <c:v>38.99</c:v>
                </c:pt>
                <c:pt idx="2">
                  <c:v>46.09</c:v>
                </c:pt>
                <c:pt idx="3">
                  <c:v>67.099999999999994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52-4E48-88C0-B659A60B84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7F0FBC-34E7-4269-B780-5572CEFF9FBF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D7FDB-1A0F-4417-AF7F-17EED7212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38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D7FDB-1A0F-4417-AF7F-17EED721255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36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8654" y="2497463"/>
            <a:ext cx="10318466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rPr sz="6000" dirty="0">
                <a:solidFill>
                  <a:srgbClr val="00B050"/>
                </a:solidFill>
              </a:rPr>
              <a:t>Plant Leaf Disease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7248" y="4516458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rPr dirty="0"/>
              <a:t>End-to-End Machine Learning &amp; Deep Learning Project</a:t>
            </a:r>
          </a:p>
          <a:p>
            <a:pPr algn="ctr">
              <a:defRPr sz="1500"/>
            </a:pPr>
            <a:r>
              <a:rPr dirty="0"/>
              <a:t>Traditional ML → CNN → MobileNetV2 Transfer Learning → EfficientNetB0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4.79167E-6 3.33333E-6 L 4.79167E-6 -0.07223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 Statement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Plant diseases can reduce crop health and yield; visual identification can be difficult when symptoms look similar.</a:t>
            </a:r>
          </a:p>
          <a:p>
            <a:pPr>
              <a:spcAft>
                <a:spcPts val="800"/>
              </a:spcAft>
              <a:defRPr sz="1900"/>
            </a:pPr>
            <a:r>
              <a:t>Objective: build an image-classification system that predicts the plant disease class from a leaf image.</a:t>
            </a:r>
          </a:p>
          <a:p>
            <a:pPr>
              <a:spcAft>
                <a:spcPts val="800"/>
              </a:spcAft>
              <a:defRPr sz="1900"/>
            </a:pPr>
            <a:r>
              <a:t>Scope: 23 PlantVillage classes covering Apple, Corn, Pepper, Potato and Tomato leaves.</a:t>
            </a:r>
          </a:p>
          <a:p>
            <a:pPr>
              <a:spcAft>
                <a:spcPts val="800"/>
              </a:spcAft>
              <a:defRPr sz="1900"/>
            </a:pPr>
            <a:r>
              <a:t>Compare traditional machine learning with deep learning and transfer-learning approaches.</a:t>
            </a:r>
          </a:p>
          <a:p>
            <a:pPr>
              <a:spcAft>
                <a:spcPts val="800"/>
              </a:spcAft>
              <a:defRPr sz="1900"/>
            </a:pPr>
            <a:r>
              <a:t>Create a reusable prediction function for a new leaf image.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Dataset: PlantVillage image dataset; class labels are represented by folder names.</a:t>
            </a:r>
          </a:p>
          <a:p>
            <a:pPr>
              <a:spcAft>
                <a:spcPts val="800"/>
              </a:spcAft>
              <a:defRPr sz="1900"/>
            </a:pPr>
            <a:r>
              <a:t>Original class counts were imbalanced: the smallest class had 152 images and the largest had 3,208 images.</a:t>
            </a:r>
          </a:p>
          <a:p>
            <a:pPr>
              <a:spcAft>
                <a:spcPts val="800"/>
              </a:spcAft>
              <a:defRPr sz="1900"/>
            </a:pPr>
            <a:r>
              <a:t>To create a controlled comparison, 150 images were sampled from each of the 23 classes.</a:t>
            </a:r>
          </a:p>
          <a:p>
            <a:pPr>
              <a:spcAft>
                <a:spcPts val="800"/>
              </a:spcAft>
              <a:defRPr sz="1900"/>
            </a:pPr>
            <a:r>
              <a:t>Final balanced working dataset: 23 × 150 = 3,450 images.</a:t>
            </a:r>
          </a:p>
          <a:p>
            <a:pPr>
              <a:spcAft>
                <a:spcPts val="800"/>
              </a:spcAft>
              <a:defRPr sz="1900"/>
            </a:pPr>
            <a:r>
              <a:t>Images were originally 256 × 256 RGB; model pipelines resized them to 224 × 224 for transfer learning.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34291" y="3611880"/>
            <a:ext cx="17373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23</a:t>
            </a:r>
          </a:p>
          <a:p>
            <a:pPr algn="ctr">
              <a:defRPr sz="1200"/>
            </a:pPr>
            <a:r>
              <a:t>classes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00251" y="3611880"/>
            <a:ext cx="17373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150</a:t>
            </a:r>
          </a:p>
          <a:p>
            <a:pPr algn="ctr">
              <a:defRPr sz="1200"/>
            </a:pPr>
            <a:r>
              <a:t>images/class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4291" y="4800600"/>
            <a:ext cx="17373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3,450</a:t>
            </a:r>
          </a:p>
          <a:p>
            <a:pPr algn="ctr">
              <a:defRPr sz="1200"/>
            </a:pPr>
            <a:r>
              <a:t>total images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00251" y="4800600"/>
            <a:ext cx="17373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256²</a:t>
            </a:r>
          </a:p>
          <a:p>
            <a:pPr algn="ctr">
              <a:defRPr sz="1200"/>
            </a:pPr>
            <a:r>
              <a:t>source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Class Distribution After Balancing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234440"/>
          <a:ext cx="6583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Class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Images/class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Total images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Pepper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Potato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Tomato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 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3450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543800" y="1417320"/>
            <a:ext cx="4023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Balancing reduced the influence of classes with much larger original sample counts.</a:t>
            </a:r>
          </a:p>
          <a:p>
            <a:pPr>
              <a:spcAft>
                <a:spcPts val="800"/>
              </a:spcAft>
              <a:defRPr sz="1500"/>
            </a:pPr>
            <a:r>
              <a:t>The resulting dataset gives every class equal representation during the main experiments.</a:t>
            </a:r>
          </a:p>
          <a:p>
            <a:pPr>
              <a:spcAft>
                <a:spcPts val="800"/>
              </a:spcAft>
              <a:defRPr sz="1500"/>
            </a:pPr>
            <a:r>
              <a:t>This makes accuracy comparisons across classes easier to interpret.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Data Cleaning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Collected image paths and labels directly from the class-folder structure.</a:t>
            </a:r>
          </a:p>
          <a:p>
            <a:pPr>
              <a:spcAft>
                <a:spcPts val="800"/>
              </a:spcAft>
              <a:defRPr sz="1900"/>
            </a:pPr>
            <a:r>
              <a:t>Converted images to RGB to ensure a consistent three-channel input.</a:t>
            </a:r>
          </a:p>
          <a:p>
            <a:pPr>
              <a:spcAft>
                <a:spcPts val="800"/>
              </a:spcAft>
              <a:defRPr sz="1900"/>
            </a:pPr>
            <a:r>
              <a:t>Verified image dimensions on sampled images; source images were 256 × 256.</a:t>
            </a:r>
          </a:p>
          <a:p>
            <a:pPr>
              <a:spcAft>
                <a:spcPts val="800"/>
              </a:spcAft>
              <a:defRPr sz="1900"/>
            </a:pPr>
            <a:r>
              <a:t>Traditional ML pipeline: resized to 64 × 64, converted to float32 and normalized to 0–1.</a:t>
            </a:r>
          </a:p>
          <a:p>
            <a:pPr>
              <a:spcAft>
                <a:spcPts val="800"/>
              </a:spcAft>
              <a:defRPr sz="1900"/>
            </a:pPr>
            <a:r>
              <a:t>Deep-learning pipeline: resized to 224 × 224 for MobileNetV2 / EfficientNetB0.</a:t>
            </a:r>
          </a:p>
          <a:p>
            <a:pPr>
              <a:spcAft>
                <a:spcPts val="800"/>
              </a:spcAft>
              <a:defRPr sz="1900"/>
            </a:pPr>
            <a:r>
              <a:t>Applied data augmentation during training: horizontal flip, rotation, zoom and contrast; stronger experiments also tested translation.</a:t>
            </a:r>
          </a:p>
          <a:p>
            <a:pPr>
              <a:spcAft>
                <a:spcPts val="800"/>
              </a:spcAft>
              <a:defRPr sz="1900"/>
            </a:pPr>
            <a:r>
              <a:t>Labels were encoded into 23 numeric classes.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Exploratory Data Analysis (EDA)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Reviewed all 23 class folders and class names.</a:t>
            </a:r>
          </a:p>
          <a:p>
            <a:pPr>
              <a:spcAft>
                <a:spcPts val="800"/>
              </a:spcAft>
              <a:defRPr sz="1900"/>
            </a:pPr>
            <a:r>
              <a:t>Displayed representative images from every class to understand visual differences.</a:t>
            </a:r>
          </a:p>
          <a:p>
            <a:pPr>
              <a:spcAft>
                <a:spcPts val="800"/>
              </a:spcAft>
              <a:defRPr sz="1900"/>
            </a:pPr>
            <a:r>
              <a:t>Inspected image dimensions and RGB format.</a:t>
            </a:r>
          </a:p>
          <a:p>
            <a:pPr>
              <a:spcAft>
                <a:spcPts val="800"/>
              </a:spcAft>
              <a:defRPr sz="1900"/>
            </a:pPr>
            <a:r>
              <a:t>Checked the class distribution before and after balancing.</a:t>
            </a:r>
          </a:p>
          <a:p>
            <a:pPr>
              <a:spcAft>
                <a:spcPts val="800"/>
              </a:spcAft>
              <a:defRPr sz="1900"/>
            </a:pPr>
            <a:r>
              <a:t>EDA showed that several diseases have visually similar symptoms, especially within tomato and apple categories.</a:t>
            </a:r>
          </a:p>
          <a:p>
            <a:pPr>
              <a:spcAft>
                <a:spcPts val="800"/>
              </a:spcAft>
              <a:defRPr sz="1900"/>
            </a:pPr>
            <a:r>
              <a:t>This visual similarity explains why class-level precision/recall is important in addition to overall accuracy.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81486" y="4647217"/>
            <a:ext cx="17373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rPr dirty="0"/>
              <a:t>23</a:t>
            </a:r>
          </a:p>
          <a:p>
            <a:pPr algn="ctr">
              <a:defRPr sz="1200"/>
            </a:pPr>
            <a:r>
              <a:rPr dirty="0"/>
              <a:t>classes inspected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47447" y="4647217"/>
            <a:ext cx="17373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256×256</a:t>
            </a:r>
          </a:p>
          <a:p>
            <a:pPr algn="ctr">
              <a:defRPr sz="1200"/>
            </a:pPr>
            <a:r>
              <a:t>source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Train / Validation / Test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Deep-learning split: 70% training, 15% validation, 15% test, stratified by class.</a:t>
            </a:r>
          </a:p>
          <a:p>
            <a:pPr>
              <a:spcAft>
                <a:spcPts val="800"/>
              </a:spcAft>
              <a:defRPr sz="1900"/>
            </a:pPr>
            <a:r>
              <a:t>Train set: 2,415 images.</a:t>
            </a:r>
          </a:p>
          <a:p>
            <a:pPr>
              <a:spcAft>
                <a:spcPts val="800"/>
              </a:spcAft>
              <a:defRPr sz="1900"/>
            </a:pPr>
            <a:r>
              <a:t>Validation set: 517 images.</a:t>
            </a:r>
          </a:p>
          <a:p>
            <a:pPr>
              <a:spcAft>
                <a:spcPts val="800"/>
              </a:spcAft>
              <a:defRPr sz="1900"/>
            </a:pPr>
            <a:r>
              <a:t>Test set: 518 images.</a:t>
            </a:r>
          </a:p>
          <a:p>
            <a:pPr>
              <a:spcAft>
                <a:spcPts val="800"/>
              </a:spcAft>
              <a:defRPr sz="1900"/>
            </a:pPr>
            <a:r>
              <a:t>The test set was kept separate for final evaluation.</a:t>
            </a:r>
          </a:p>
          <a:p>
            <a:pPr>
              <a:spcAft>
                <a:spcPts val="800"/>
              </a:spcAft>
              <a:defRPr sz="1900"/>
            </a:pPr>
            <a:r>
              <a:t>Traditional ML used a separate 80/20 train-test split: 2,760 training and 690 test images.</a:t>
            </a:r>
          </a:p>
          <a:p>
            <a:pPr>
              <a:spcAft>
                <a:spcPts val="800"/>
              </a:spcAft>
              <a:defRPr sz="1900"/>
            </a:pPr>
            <a:r>
              <a:t>Because the protocols differ, traditional-ML test accuracy and deep-learning test accuracy should be presented as separate experiments rather than a single perfectly controlled benchmark.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48056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2,415</a:t>
            </a:r>
          </a:p>
          <a:p>
            <a:pPr algn="ctr">
              <a:defRPr sz="1200"/>
            </a:pPr>
            <a:r>
              <a:t>Train • 70%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448056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517</a:t>
            </a:r>
          </a:p>
          <a:p>
            <a:pPr algn="ctr">
              <a:defRPr sz="1200"/>
            </a:pPr>
            <a:r>
              <a:t>Validation • 15%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448056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518</a:t>
            </a:r>
          </a:p>
          <a:p>
            <a:pPr algn="ctr">
              <a:defRPr sz="1200"/>
            </a:pPr>
            <a:r>
              <a:t>Test • 15%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448056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23</a:t>
            </a:r>
          </a:p>
          <a:p>
            <a:pPr algn="ctr">
              <a:defRPr sz="1200"/>
            </a:pPr>
            <a:r>
              <a:t>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Traditional Machine Learning Baseline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85800" y="1325880"/>
          <a:ext cx="66751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35240" y="123444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Images were flattened after 64 × 64 preprocessing.</a:t>
            </a:r>
          </a:p>
          <a:p>
            <a:pPr>
              <a:spcAft>
                <a:spcPts val="800"/>
              </a:spcAft>
              <a:defRPr sz="1400"/>
            </a:pPr>
            <a:r>
              <a:t>StandardScaler + PCA (95% variance) reduced the flattened feature space to 489 components.</a:t>
            </a:r>
          </a:p>
          <a:p>
            <a:pPr>
              <a:spcAft>
                <a:spcPts val="800"/>
              </a:spcAft>
              <a:defRPr sz="1400"/>
            </a:pPr>
            <a:r>
              <a:t>Logistic Regression: 54.78%</a:t>
            </a:r>
          </a:p>
          <a:p>
            <a:pPr>
              <a:spcAft>
                <a:spcPts val="800"/>
              </a:spcAft>
              <a:defRPr sz="1400"/>
            </a:pPr>
            <a:r>
              <a:t>KNN: 38.99%</a:t>
            </a:r>
          </a:p>
          <a:p>
            <a:pPr>
              <a:spcAft>
                <a:spcPts val="800"/>
              </a:spcAft>
              <a:defRPr sz="1400"/>
            </a:pPr>
            <a:r>
              <a:t>Random Forest: 46.09%</a:t>
            </a:r>
          </a:p>
          <a:p>
            <a:pPr>
              <a:spcAft>
                <a:spcPts val="800"/>
              </a:spcAft>
              <a:defRPr sz="1400"/>
            </a:pPr>
            <a:r>
              <a:t>SVM with RBF kernel: 67.10% — strongest traditional baseline.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CNN Model from Scratch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Input: 224 × 224 × 3 RGB leaf image.</a:t>
            </a:r>
          </a:p>
          <a:p>
            <a:pPr>
              <a:spcAft>
                <a:spcPts val="800"/>
              </a:spcAft>
              <a:defRPr sz="1900"/>
            </a:pPr>
            <a:r>
              <a:t>Augmentation: horizontal flip, rotation and zoom.</a:t>
            </a:r>
          </a:p>
          <a:p>
            <a:pPr>
              <a:spcAft>
                <a:spcPts val="800"/>
              </a:spcAft>
              <a:defRPr sz="1900"/>
            </a:pPr>
            <a:r>
              <a:t>Convolution blocks: 32 → 64 → 128 filters with max-pooling.</a:t>
            </a:r>
          </a:p>
          <a:p>
            <a:pPr>
              <a:spcAft>
                <a:spcPts val="800"/>
              </a:spcAft>
              <a:defRPr sz="1900"/>
            </a:pPr>
            <a:r>
              <a:t>Global Average Pooling followed by Dense(128) and Dropout(0.5).</a:t>
            </a:r>
          </a:p>
          <a:p>
            <a:pPr>
              <a:spcAft>
                <a:spcPts val="800"/>
              </a:spcAft>
              <a:defRPr sz="1900"/>
            </a:pPr>
            <a:r>
              <a:t>Final layer: 23-class softmax.</a:t>
            </a:r>
          </a:p>
          <a:p>
            <a:pPr>
              <a:spcAft>
                <a:spcPts val="800"/>
              </a:spcAft>
              <a:defRPr sz="1900"/>
            </a:pPr>
            <a:r>
              <a:t>The earlier 64 × 64 CNN reached 73.89% validation accuracy after 20 epochs.</a:t>
            </a:r>
          </a:p>
          <a:p>
            <a:pPr>
              <a:spcAft>
                <a:spcPts val="800"/>
              </a:spcAft>
              <a:defRPr sz="1900"/>
            </a:pPr>
            <a:r>
              <a:t>The CNN demonstrated the benefit of learned image features, but transfer learning was explored to improve performance and convergence.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0" y="1417320"/>
            <a:ext cx="17373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73.89%</a:t>
            </a:r>
          </a:p>
          <a:p>
            <a:pPr algn="ctr">
              <a:defRPr sz="1200"/>
            </a:pPr>
            <a:r>
              <a:t>earlier CNN best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1417320"/>
            <a:ext cx="17373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23</a:t>
            </a:r>
          </a:p>
          <a:p>
            <a:pPr algn="ctr">
              <a:defRPr sz="1200"/>
            </a:pPr>
            <a:r>
              <a:t>softmax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MobileNetV2 Transfer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MobileNetV2 was loaded with ImageNet pretrained weights; this is the transfer-learning stage.</a:t>
            </a:r>
          </a:p>
          <a:p>
            <a:pPr>
              <a:spcAft>
                <a:spcPts val="800"/>
              </a:spcAft>
              <a:defRPr sz="1900"/>
            </a:pPr>
            <a:r>
              <a:t>The pretrained convolutional base was initially frozen.</a:t>
            </a:r>
          </a:p>
          <a:p>
            <a:pPr>
              <a:spcAft>
                <a:spcPts val="800"/>
              </a:spcAft>
              <a:defRPr sz="1900"/>
            </a:pPr>
            <a:r>
              <a:t>A classification head was added: Global Average Pooling → Dense(256) → Dropout(0.4) → Dense(23, softmax).</a:t>
            </a:r>
          </a:p>
          <a:p>
            <a:pPr>
              <a:spcAft>
                <a:spcPts val="800"/>
              </a:spcAft>
              <a:defRPr sz="1900"/>
            </a:pPr>
            <a:r>
              <a:t>Training used Adam optimizer, categorical-classification loss and validation monitoring.</a:t>
            </a:r>
          </a:p>
          <a:p>
            <a:pPr>
              <a:spcAft>
                <a:spcPts val="800"/>
              </a:spcAft>
              <a:defRPr sz="1900"/>
            </a:pPr>
            <a:r>
              <a:t>Data augmentation was applied to improve robustness to image variation.</a:t>
            </a:r>
          </a:p>
          <a:p>
            <a:pPr>
              <a:spcAft>
                <a:spcPts val="800"/>
              </a:spcAft>
              <a:defRPr sz="1900"/>
            </a:pPr>
            <a:r>
              <a:t>This approach reuses features learned from a large image dataset instead of learning all visual features from scratch.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00949" y="4800600"/>
            <a:ext cx="17373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ImageNet</a:t>
            </a:r>
          </a:p>
          <a:p>
            <a:pPr algn="ctr">
              <a:defRPr sz="1200"/>
            </a:pPr>
            <a:r>
              <a:t>pretrained weights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66909" y="4800600"/>
            <a:ext cx="17373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224×224</a:t>
            </a:r>
          </a:p>
          <a:p>
            <a:pPr algn="ctr">
              <a:defRPr sz="1200"/>
            </a:pPr>
            <a:r>
              <a:t>input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MobileNetV2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After the frozen-base stage, the last 40 MobileNetV2 layers were unfrozen.</a:t>
            </a:r>
          </a:p>
          <a:p>
            <a:pPr>
              <a:spcAft>
                <a:spcPts val="800"/>
              </a:spcAft>
              <a:defRPr sz="1900"/>
            </a:pPr>
            <a:r>
              <a:t>Fine-tuning used a much smaller learning rate (1e-5) to make controlled updates to pretrained features.</a:t>
            </a:r>
          </a:p>
          <a:p>
            <a:pPr>
              <a:spcAft>
                <a:spcPts val="800"/>
              </a:spcAft>
              <a:defRPr sz="1900"/>
            </a:pPr>
            <a:r>
              <a:t>The better fine-tuning run achieved a best validation accuracy of approximately 89.17%.</a:t>
            </a:r>
          </a:p>
          <a:p>
            <a:pPr>
              <a:spcAft>
                <a:spcPts val="800"/>
              </a:spcAft>
              <a:defRPr sz="1900"/>
            </a:pPr>
            <a:r>
              <a:t>Final held-out test evaluation of the saved model best_plant_disease_224_finetuned.keras: 89.19% accuracy.</a:t>
            </a:r>
          </a:p>
          <a:p>
            <a:pPr>
              <a:spcAft>
                <a:spcPts val="800"/>
              </a:spcAft>
              <a:defRPr sz="1900"/>
            </a:pPr>
            <a:r>
              <a:t>Test loss: 0.3379.</a:t>
            </a:r>
          </a:p>
          <a:p>
            <a:pPr>
              <a:spcAft>
                <a:spcPts val="800"/>
              </a:spcAft>
              <a:defRPr sz="1900"/>
            </a:pPr>
            <a:r>
              <a:t>The gap between training and validation accuracy was monitored to identify overfitting.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03320" y="4000500"/>
            <a:ext cx="18288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rPr dirty="0"/>
              <a:t>89.94%</a:t>
            </a:r>
          </a:p>
          <a:p>
            <a:pPr algn="ctr">
              <a:defRPr sz="1200"/>
            </a:pPr>
            <a:r>
              <a:rPr dirty="0"/>
              <a:t>best validation reported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4000500"/>
            <a:ext cx="18288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89.19%</a:t>
            </a:r>
          </a:p>
          <a:p>
            <a:pPr algn="ctr">
              <a:defRPr sz="1200"/>
            </a:pPr>
            <a:r>
              <a:t>held-out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6592" y="5234940"/>
            <a:ext cx="18288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0.3379</a:t>
            </a:r>
          </a:p>
          <a:p>
            <a:pPr algn="ctr">
              <a:defRPr sz="1200"/>
            </a:pPr>
            <a:r>
              <a:t>test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EfficientNetB0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EfficientNetB0 was tested as a second transfer-learning architecture at 224 × 224.</a:t>
            </a:r>
          </a:p>
          <a:p>
            <a:pPr>
              <a:spcAft>
                <a:spcPts val="800"/>
              </a:spcAft>
              <a:defRPr sz="1900"/>
            </a:pPr>
            <a:r>
              <a:t>The base network was initially frozen and trained with a classification head.</a:t>
            </a:r>
          </a:p>
          <a:p>
            <a:pPr>
              <a:spcAft>
                <a:spcPts val="800"/>
              </a:spcAft>
              <a:defRPr sz="1900"/>
            </a:pPr>
            <a:r>
              <a:t>Frozen-base run: final training accuracy 92.26%; final validation accuracy 88.39%; best validation accuracy 89.55%.</a:t>
            </a:r>
          </a:p>
          <a:p>
            <a:pPr>
              <a:spcAft>
                <a:spcPts val="800"/>
              </a:spcAft>
              <a:defRPr sz="1900"/>
            </a:pPr>
            <a:r>
              <a:t>Fine-tuning was then attempted by unfreezing the last 30 layers with learning rate 1e-5.</a:t>
            </a:r>
          </a:p>
          <a:p>
            <a:pPr>
              <a:spcAft>
                <a:spcPts val="800"/>
              </a:spcAft>
              <a:defRPr sz="1900"/>
            </a:pPr>
            <a:r>
              <a:t>Fine-tuning did not improve validation performance; the shown final validation accuracy was 88.39%, with best around 88.59%.</a:t>
            </a:r>
          </a:p>
          <a:p>
            <a:pPr>
              <a:spcAft>
                <a:spcPts val="800"/>
              </a:spcAft>
              <a:defRPr sz="1900"/>
            </a:pPr>
            <a:r>
              <a:t>The experiment therefore did not replace the MobileNetV2 model as the final saved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77062" y="4754880"/>
            <a:ext cx="18288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89.55%</a:t>
            </a:r>
          </a:p>
          <a:p>
            <a:pPr algn="ctr">
              <a:defRPr sz="1200"/>
            </a:pPr>
            <a:r>
              <a:t>best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34462" y="4754880"/>
            <a:ext cx="18288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92.26%</a:t>
            </a:r>
          </a:p>
          <a:p>
            <a:pPr algn="ctr">
              <a:defRPr sz="1200"/>
            </a:pPr>
            <a:r>
              <a:t>final train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Model Comparison — Accuracy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97280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Evaluation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54.78%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Traditional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38.99%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Lowest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46.09%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Tree-based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SVM (RBF)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67.10%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Best traditional 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CNN from 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Best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73.89%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Earlier 64×64 CNN run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MobileNetV2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Best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89.94%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224×224 fine-tuning run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MobileNetV2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Held-out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89.19%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Final saved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EfficientNetB0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Best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89.55%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 held-out test result captured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14. Confusion Matrix — Final MobileNetV2 Test Results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6720840" cy="535813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78040" y="914400"/>
            <a:ext cx="4617720" cy="5257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400" b="1"/>
            </a:pPr>
            <a:r>
              <a:rPr dirty="0"/>
              <a:t>How to read it</a:t>
            </a:r>
          </a:p>
          <a:p>
            <a:pPr>
              <a:spcAft>
                <a:spcPts val="400"/>
              </a:spcAft>
              <a:defRPr sz="1120" b="0"/>
            </a:pPr>
            <a:r>
              <a:rPr dirty="0"/>
              <a:t>• Rows show the actual disease class; columns show the predicted class.</a:t>
            </a:r>
          </a:p>
          <a:p>
            <a:pPr>
              <a:spcAft>
                <a:spcPts val="400"/>
              </a:spcAft>
              <a:defRPr sz="1120" b="0"/>
            </a:pPr>
            <a:r>
              <a:rPr dirty="0"/>
              <a:t>• Dark diagonal cells represent correct classifications.</a:t>
            </a:r>
          </a:p>
          <a:p>
            <a:pPr>
              <a:spcAft>
                <a:spcPts val="400"/>
              </a:spcAft>
              <a:defRPr sz="1120" b="0"/>
            </a:pPr>
            <a:r>
              <a:rPr dirty="0"/>
              <a:t>• Off-diagonal values represent misclassified leaves.</a:t>
            </a:r>
          </a:p>
          <a:p>
            <a:pPr>
              <a:spcAft>
                <a:spcPts val="600"/>
              </a:spcAft>
              <a:defRPr sz="1400" b="1"/>
            </a:pPr>
            <a:r>
              <a:rPr dirty="0"/>
              <a:t>What the matrix shows</a:t>
            </a:r>
          </a:p>
          <a:p>
            <a:pPr>
              <a:spcAft>
                <a:spcPts val="400"/>
              </a:spcAft>
              <a:defRPr sz="1120" b="0"/>
            </a:pPr>
            <a:r>
              <a:rPr dirty="0"/>
              <a:t>• Apple classes are concentrated strongly along the diagonal.</a:t>
            </a:r>
          </a:p>
          <a:p>
            <a:pPr>
              <a:spcAft>
                <a:spcPts val="400"/>
              </a:spcAft>
              <a:defRPr sz="1120" b="0"/>
            </a:pPr>
            <a:r>
              <a:rPr dirty="0"/>
              <a:t>• Corn Common Rust and Corn Healthy show strong correct-class counts.</a:t>
            </a:r>
          </a:p>
          <a:p>
            <a:pPr>
              <a:spcAft>
                <a:spcPts val="400"/>
              </a:spcAft>
              <a:defRPr sz="1120" b="0"/>
            </a:pPr>
            <a:r>
              <a:rPr dirty="0"/>
              <a:t>• Potato Early Blight, Potato Late Blight and Potato Healthy are also predominantly diagonal.</a:t>
            </a:r>
          </a:p>
          <a:p>
            <a:pPr>
              <a:spcAft>
                <a:spcPts val="400"/>
              </a:spcAft>
              <a:defRPr sz="1120" b="0"/>
            </a:pPr>
            <a:r>
              <a:rPr dirty="0"/>
              <a:t>• More confusion appears among the Tomato disease classes because their leaf symptoms are visually similar.</a:t>
            </a:r>
          </a:p>
          <a:p>
            <a:pPr>
              <a:spcAft>
                <a:spcPts val="400"/>
              </a:spcAft>
              <a:defRPr sz="1120" b="0"/>
            </a:pPr>
            <a:r>
              <a:rPr dirty="0"/>
              <a:t>• Tomato Early Blight shows notable confusion with other tomato diseases, including Tomato Late Blight and Target Spot.</a:t>
            </a:r>
          </a:p>
          <a:p>
            <a:pPr>
              <a:spcAft>
                <a:spcPts val="400"/>
              </a:spcAft>
              <a:defRPr sz="1120" b="0"/>
            </a:pPr>
            <a:r>
              <a:rPr dirty="0"/>
              <a:t>• Tomato Spider Mites and Tomato Target Spot also have visible off-diagonal errors.</a:t>
            </a:r>
          </a:p>
          <a:p>
            <a:pPr>
              <a:spcAft>
                <a:spcPts val="600"/>
              </a:spcAft>
              <a:defRPr sz="1400" b="1"/>
            </a:pPr>
            <a:r>
              <a:rPr dirty="0"/>
              <a:t>Key takeaway</a:t>
            </a:r>
          </a:p>
          <a:p>
            <a:pPr>
              <a:spcAft>
                <a:spcPts val="400"/>
              </a:spcAft>
              <a:defRPr sz="1120" b="0"/>
            </a:pPr>
            <a:r>
              <a:rPr dirty="0"/>
              <a:t>The model performs well on several classes, but the confusion matrix identifies visually similar tomato diseases as the main area for improvement.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Class-Level Performance — Final MobileNetV2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51560"/>
          <a:ext cx="113842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7963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Class /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Corn common 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Corn 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Potato early blight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Potato 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Pepper 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Tomato Septoria leaf spot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Tomato Yellow Leaf Curl Virus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Tomato mosaic virus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Tomato 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≈0.90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Tomato Early Blight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7963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Tomato Spider Mites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7964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Tomato Leaf Mold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Why MobileNetV2 Was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CNN architecture designed for efficient image feature extraction with comparatively low computational cost.</a:t>
            </a:r>
          </a:p>
          <a:p>
            <a:pPr>
              <a:spcAft>
                <a:spcPts val="800"/>
              </a:spcAft>
              <a:defRPr sz="1900"/>
            </a:pPr>
            <a:r>
              <a:t>ImageNet pretraining provides reusable visual representations such as edges, textures and higher-level patterns.</a:t>
            </a:r>
          </a:p>
          <a:p>
            <a:pPr>
              <a:spcAft>
                <a:spcPts val="800"/>
              </a:spcAft>
              <a:defRPr sz="1900"/>
            </a:pPr>
            <a:r>
              <a:t>Global Average Pooling reduces the number of parameters compared with a large flattened feature vector.</a:t>
            </a:r>
          </a:p>
          <a:p>
            <a:pPr>
              <a:spcAft>
                <a:spcPts val="800"/>
              </a:spcAft>
              <a:defRPr sz="1900"/>
            </a:pPr>
            <a:r>
              <a:t>Fine-tuning adapts the later pretrained features to plant-leaf disease patterns.</a:t>
            </a:r>
          </a:p>
          <a:p>
            <a:pPr>
              <a:spcAft>
                <a:spcPts val="800"/>
              </a:spcAft>
              <a:defRPr sz="1900"/>
            </a:pPr>
            <a:r>
              <a:t>The 224 × 224 MobileNetV2 pipeline achieved 89.19% on the held-out test set.</a:t>
            </a:r>
          </a:p>
          <a:p>
            <a:pPr>
              <a:spcAft>
                <a:spcPts val="800"/>
              </a:spcAft>
              <a:defRPr sz="1900"/>
            </a:pPr>
            <a:r>
              <a:t>The model was saved as best_plant_disease_224_finetuned.keras and a class-name JSON file was saved for inference.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New Leaf Prediction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Load best_plant_disease_224_finetuned.keras.</a:t>
            </a:r>
          </a:p>
          <a:p>
            <a:pPr>
              <a:spcAft>
                <a:spcPts val="800"/>
              </a:spcAft>
              <a:defRPr sz="1900"/>
            </a:pPr>
            <a:r>
              <a:t>Load the 23 class names from plant_disease_class_names.json.</a:t>
            </a:r>
          </a:p>
          <a:p>
            <a:pPr>
              <a:spcAft>
                <a:spcPts val="800"/>
              </a:spcAft>
              <a:defRPr sz="1900"/>
            </a:pPr>
            <a:r>
              <a:t>Open a new leaf image and convert it to RGB.</a:t>
            </a:r>
          </a:p>
          <a:p>
            <a:pPr>
              <a:spcAft>
                <a:spcPts val="800"/>
              </a:spcAft>
              <a:defRPr sz="1900"/>
            </a:pPr>
            <a:r>
              <a:t>Resize to 224 × 224 and add the batch dimension.</a:t>
            </a:r>
          </a:p>
          <a:p>
            <a:pPr>
              <a:spcAft>
                <a:spcPts val="800"/>
              </a:spcAft>
              <a:defRPr sz="1900"/>
            </a:pPr>
            <a:r>
              <a:t>Run model.predict() and select the class with the highest probability.</a:t>
            </a:r>
          </a:p>
          <a:p>
            <a:pPr>
              <a:spcAft>
                <a:spcPts val="800"/>
              </a:spcAft>
              <a:defRPr sz="1900"/>
            </a:pPr>
            <a:r>
              <a:t>Display predicted disease and confidence; optionally return Top-3 predictions.</a:t>
            </a:r>
          </a:p>
          <a:p>
            <a:pPr>
              <a:spcAft>
                <a:spcPts val="800"/>
              </a:spcAft>
              <a:defRPr sz="1900"/>
            </a:pPr>
            <a:r>
              <a:t>Important: a real-world photo may perform differently from PlantVillage images because of lighting, background, camera angle and image quality.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325880"/>
            <a:ext cx="17373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224×224</a:t>
            </a:r>
          </a:p>
          <a:p>
            <a:pPr algn="ctr">
              <a:defRPr sz="1200"/>
            </a:pPr>
            <a:r>
              <a:t>inference size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0" y="1325880"/>
            <a:ext cx="17373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23</a:t>
            </a:r>
          </a:p>
          <a:p>
            <a:pPr algn="ctr">
              <a:defRPr sz="1200"/>
            </a:pPr>
            <a:r>
              <a:t>possible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17. End-to-End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920240"/>
            <a:ext cx="1078992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Dataset</a:t>
            </a:r>
          </a:p>
          <a:p>
            <a:pPr algn="ctr">
              <a:defRPr sz="900"/>
            </a:pPr>
            <a:r>
              <a:t>PlantVillage</a:t>
            </a:r>
            <a:br/>
            <a:r>
              <a:t>23 classes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463040" y="2404872"/>
            <a:ext cx="22860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664207" y="1920240"/>
            <a:ext cx="1078992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Balance</a:t>
            </a:r>
          </a:p>
          <a:p>
            <a:pPr algn="ctr">
              <a:defRPr sz="900"/>
            </a:pPr>
            <a:r>
              <a:t>150/class</a:t>
            </a:r>
            <a:br/>
            <a:r>
              <a:t>3,450 images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61488" y="2404872"/>
            <a:ext cx="22860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62656" y="1920240"/>
            <a:ext cx="1078992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Clean</a:t>
            </a:r>
          </a:p>
          <a:p>
            <a:pPr algn="ctr">
              <a:defRPr sz="900"/>
            </a:pPr>
            <a:r>
              <a:t>RGB + resize</a:t>
            </a:r>
            <a:br/>
            <a:r>
              <a:t>label encoding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59935" y="2404872"/>
            <a:ext cx="22860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61104" y="1920240"/>
            <a:ext cx="1078992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EDA</a:t>
            </a:r>
          </a:p>
          <a:p>
            <a:pPr algn="ctr">
              <a:defRPr sz="900"/>
            </a:pPr>
            <a:r>
              <a:t>class + image</a:t>
            </a:r>
            <a:br/>
            <a:r>
              <a:t>inspection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358383" y="2404872"/>
            <a:ext cx="22860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559552" y="1920240"/>
            <a:ext cx="1078992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Baseline</a:t>
            </a:r>
          </a:p>
          <a:p>
            <a:pPr algn="ctr">
              <a:defRPr sz="900"/>
            </a:pPr>
            <a:r>
              <a:t>ML models</a:t>
            </a:r>
            <a:br/>
            <a:r>
              <a:t>SVM 67.10%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656831" y="2404872"/>
            <a:ext cx="22860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0" y="1920240"/>
            <a:ext cx="1078992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Deep Learning</a:t>
            </a:r>
          </a:p>
          <a:p>
            <a:pPr algn="ctr">
              <a:defRPr sz="900"/>
            </a:pPr>
            <a:r>
              <a:t>CNN</a:t>
            </a:r>
            <a:br/>
            <a:r>
              <a:t>MobileNetV2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55279" y="2404872"/>
            <a:ext cx="22860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56448" y="1920240"/>
            <a:ext cx="1078992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Fine-tune</a:t>
            </a:r>
          </a:p>
          <a:p>
            <a:pPr algn="ctr">
              <a:defRPr sz="900"/>
            </a:pPr>
            <a:r>
              <a:t>last 40 layers</a:t>
            </a:r>
            <a:br/>
            <a:r>
              <a:t>LR 1e-5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53728" y="2404872"/>
            <a:ext cx="22860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54896" y="1920240"/>
            <a:ext cx="1078992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Evaluate</a:t>
            </a:r>
          </a:p>
          <a:p>
            <a:pPr algn="ctr">
              <a:defRPr sz="900"/>
            </a:pPr>
            <a:r>
              <a:t>test set</a:t>
            </a:r>
            <a:br/>
            <a:r>
              <a:t>89.19%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552176" y="2404872"/>
            <a:ext cx="228600" cy="3200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753344" y="1920240"/>
            <a:ext cx="1078992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Predict</a:t>
            </a:r>
          </a:p>
          <a:p>
            <a:pPr algn="ctr">
              <a:defRPr sz="900"/>
            </a:pPr>
            <a:r>
              <a:t>new leaf</a:t>
            </a:r>
            <a:br/>
            <a:r>
              <a:t>Top-1 / Top-3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The project combines data preparation, exploratory analysis, classical ML benchmarking, CNN development, transfer learning, fine-tuning and deployment-oriented inference.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18. Key Findings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Traditional ML established a baseline; SVM performed best among the tested classical models at 67.10% test accuracy.</a:t>
            </a:r>
          </a:p>
          <a:p>
            <a:pPr>
              <a:spcAft>
                <a:spcPts val="800"/>
              </a:spcAft>
              <a:defRPr sz="1900"/>
            </a:pPr>
            <a:r>
              <a:t>CNN-based deep learning improved the validation performance substantially over the traditional baselines.</a:t>
            </a:r>
          </a:p>
          <a:p>
            <a:pPr>
              <a:spcAft>
                <a:spcPts val="800"/>
              </a:spcAft>
              <a:defRPr sz="1900"/>
            </a:pPr>
            <a:r>
              <a:t>MobileNetV2 transfer learning + fine-tuning produced the final held-out test accuracy of 89.19%.</a:t>
            </a:r>
          </a:p>
          <a:p>
            <a:pPr>
              <a:spcAft>
                <a:spcPts val="800"/>
              </a:spcAft>
              <a:defRPr sz="1900"/>
            </a:pPr>
            <a:r>
              <a:t>EfficientNetB0 achieved up to 89.55% validation accuracy in the recorded experiment, but its fine-tuning did not improve the result and no final held-out test score was captured.</a:t>
            </a:r>
          </a:p>
          <a:p>
            <a:pPr>
              <a:spcAft>
                <a:spcPts val="800"/>
              </a:spcAft>
              <a:defRPr sz="1900"/>
            </a:pPr>
            <a:r>
              <a:t>PlantVillage-style images are relatively controlled; performance on phone photographs can be lower because of domain shift.</a:t>
            </a:r>
          </a:p>
          <a:p>
            <a:pPr>
              <a:spcAft>
                <a:spcPts val="800"/>
              </a:spcAft>
              <a:defRPr sz="1900"/>
            </a:pPr>
            <a:r>
              <a:t>Random image-level splitting can also make evaluation optimistic if near-duplicate/augmented variants are present; a group-aware or external-field test set would strengthen future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19. 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Successfully developed a 23-class plant leaf disease classification pipeline.</a:t>
            </a:r>
          </a:p>
          <a:p>
            <a:pPr>
              <a:spcAft>
                <a:spcPts val="800"/>
              </a:spcAft>
              <a:defRPr sz="1900"/>
            </a:pPr>
            <a:r>
              <a:t>Prepared and balanced 3,450 images and evaluated multiple machine-learning and deep-learning approaches.</a:t>
            </a:r>
          </a:p>
          <a:p>
            <a:pPr>
              <a:spcAft>
                <a:spcPts val="800"/>
              </a:spcAft>
              <a:defRPr sz="1900"/>
            </a:pPr>
            <a:r>
              <a:t>Final saved MobileNetV2 fine-tuned model achieved 89.19% held-out test accuracy.</a:t>
            </a:r>
          </a:p>
          <a:p>
            <a:pPr>
              <a:spcAft>
                <a:spcPts val="800"/>
              </a:spcAft>
              <a:defRPr sz="1900"/>
            </a:pPr>
            <a:r>
              <a:t>The system supports single-image inference through a reusable prediction function.</a:t>
            </a:r>
          </a:p>
          <a:p>
            <a:pPr>
              <a:spcAft>
                <a:spcPts val="800"/>
              </a:spcAft>
              <a:defRPr sz="1900"/>
            </a:pPr>
            <a:r>
              <a:t>Future work: collect field images, add an external validation set, improve hard tomato classes, test stronger augmentation, and consider model calibration / confidence thresholds.</a:t>
            </a:r>
          </a:p>
          <a:p>
            <a:pPr>
              <a:spcAft>
                <a:spcPts val="800"/>
              </a:spcAft>
              <a:defRPr sz="1900"/>
            </a:pPr>
            <a:r>
              <a:t>Potential deployment: lightweight web or mobile interface for image-based preliminary disease classification.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29809" y="1637071"/>
            <a:ext cx="6501908" cy="1862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sz="11500" dirty="0">
                <a:solidFill>
                  <a:srgbClr val="00B050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878" y="4032209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Plant Leaf Disease Classification Using Deep Learning</a:t>
            </a:r>
          </a:p>
          <a:p>
            <a:pPr algn="ctr">
              <a:defRPr sz="1700"/>
            </a:pPr>
            <a:r>
              <a:rPr dirty="0"/>
              <a:t>MobileNetV2 • Transfer Learning • Fine-Tuning • 89.19% Test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1965</Words>
  <Application>Microsoft Office PowerPoint</Application>
  <PresentationFormat>Widescreen</PresentationFormat>
  <Paragraphs>327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GAGAN KUMAR J K</cp:lastModifiedBy>
  <cp:revision>4</cp:revision>
  <dcterms:created xsi:type="dcterms:W3CDTF">2013-01-27T09:14:16Z</dcterms:created>
  <dcterms:modified xsi:type="dcterms:W3CDTF">2026-10-04T13:31:14Z</dcterms:modified>
  <cp:category/>
</cp:coreProperties>
</file>